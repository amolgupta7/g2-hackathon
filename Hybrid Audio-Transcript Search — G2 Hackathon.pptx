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2118473"/>
            <a:ext cx="10883447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2DD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G2 AI HACKATHON · EFFECTIVE RETRIEVAL FROM AUDIO TRANSCRIPTS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31" y="2534968"/>
            <a:ext cx="10883447" cy="1254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Hybrid Search over</a:t>
            </a:r>
            <a:endParaRPr lang="en-US" sz="4400" dirty="0"/>
          </a:p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Audio Transcripts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731" y="3967398"/>
            <a:ext cx="7848545" cy="594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FD8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Keyword + semantic retrieval, fused with RRF and calibrated to say “no match” when nothing truly matches — not just relevant-looking results.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731" y="6238296"/>
            <a:ext cx="2730758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8A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Amol Gupta · Submission build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812731"/>
            <a:ext cx="10883447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the system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731" y="1475645"/>
            <a:ext cx="10883447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2DD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OFFLINE — INGESTION PIPELINE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15906" y="2007134"/>
            <a:ext cx="1501727" cy="472054"/>
          </a:xfrm>
          <a:prstGeom prst="roundRect">
            <a:avLst>
              <a:gd name="adj" fmla="val 15470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9844" y="2136472"/>
            <a:ext cx="1293851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Audio (.wav)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96977" y="2118647"/>
            <a:ext cx="204268" cy="27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29789" y="1900445"/>
            <a:ext cx="1501814" cy="685432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33728" y="2029783"/>
            <a:ext cx="1293938" cy="45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ASR</a:t>
            </a:r>
            <a:endParaRPr lang="en-US" sz="1200" dirty="0"/>
          </a:p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faster-whisper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10948" y="2118647"/>
            <a:ext cx="204268" cy="27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43760" y="1793756"/>
            <a:ext cx="1501727" cy="898809"/>
          </a:xfrm>
          <a:prstGeom prst="roundRect">
            <a:avLst>
              <a:gd name="adj" fmla="val 8125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7698" y="1923094"/>
            <a:ext cx="1293851" cy="665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Diarize</a:t>
            </a:r>
            <a:endParaRPr lang="en-US" sz="1200" dirty="0"/>
          </a:p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Resemblyzer+KMeans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24831" y="2118647"/>
            <a:ext cx="204268" cy="27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57644" y="1900445"/>
            <a:ext cx="1501727" cy="685432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1582" y="2029783"/>
            <a:ext cx="1293851" cy="45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Chunk</a:t>
            </a:r>
            <a:endParaRPr lang="en-US" sz="1200" dirty="0"/>
          </a:p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speaker turns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38715" y="2118647"/>
            <a:ext cx="204268" cy="27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71527" y="1900445"/>
            <a:ext cx="1501727" cy="685432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75466" y="2029783"/>
            <a:ext cx="1293851" cy="45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</a:t>
            </a:r>
            <a:endParaRPr lang="en-US" sz="1200" dirty="0"/>
          </a:p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MiniLM-L6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52599" y="2118647"/>
            <a:ext cx="204268" cy="27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882236" y="1902835"/>
            <a:ext cx="1496948" cy="680652"/>
          </a:xfrm>
          <a:prstGeom prst="roundRect">
            <a:avLst>
              <a:gd name="adj" fmla="val 11195"/>
            </a:avLst>
          </a:prstGeom>
          <a:solidFill>
            <a:srgbClr val="14213D"/>
          </a:solidFill>
          <a:ln/>
        </p:spPr>
      </p:sp>
      <p:sp>
        <p:nvSpPr>
          <p:cNvPr id="20" name="Text 18"/>
          <p:cNvSpPr/>
          <p:nvPr/>
        </p:nvSpPr>
        <p:spPr>
          <a:xfrm>
            <a:off x="9983785" y="2029783"/>
            <a:ext cx="1293851" cy="45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Postgres</a:t>
            </a:r>
            <a:endParaRPr lang="en-US" sz="1200" dirty="0"/>
          </a:p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pgvector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731" y="2949725"/>
            <a:ext cx="10883447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F59E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ONLINE — SEARCH REQUEST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5906" y="3374524"/>
            <a:ext cx="1864487" cy="472054"/>
          </a:xfrm>
          <a:prstGeom prst="roundRect">
            <a:avLst>
              <a:gd name="adj" fmla="val 15470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9844" y="3503863"/>
            <a:ext cx="1656610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59736" y="3486038"/>
            <a:ext cx="204268" cy="27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9E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992549" y="3267835"/>
            <a:ext cx="1864574" cy="685432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96487" y="3397174"/>
            <a:ext cx="1656697" cy="45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Keyword (tsvector)</a:t>
            </a:r>
            <a:endParaRPr lang="en-US" sz="1200" dirty="0"/>
          </a:p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Vector (cosine)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6467" y="3486038"/>
            <a:ext cx="204268" cy="27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9E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169279" y="3374524"/>
            <a:ext cx="1864487" cy="472054"/>
          </a:xfrm>
          <a:prstGeom prst="roundRect">
            <a:avLst>
              <a:gd name="adj" fmla="val 15470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73217" y="3503863"/>
            <a:ext cx="1656610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RRF Fusion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13110" y="3486038"/>
            <a:ext cx="204268" cy="27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9E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345922" y="3267835"/>
            <a:ext cx="1864574" cy="685432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49861" y="3397174"/>
            <a:ext cx="1656697" cy="45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Cross-encoder</a:t>
            </a:r>
            <a:endParaRPr lang="en-US" sz="1200" dirty="0"/>
          </a:p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rerank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289840" y="3486038"/>
            <a:ext cx="204268" cy="27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9E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519477" y="3376914"/>
            <a:ext cx="1859707" cy="467274"/>
          </a:xfrm>
          <a:prstGeom prst="roundRect">
            <a:avLst>
              <a:gd name="adj" fmla="val 16307"/>
            </a:avLst>
          </a:prstGeom>
          <a:solidFill>
            <a:srgbClr val="14213D"/>
          </a:solidFill>
          <a:ln/>
        </p:spPr>
      </p:sp>
      <p:sp>
        <p:nvSpPr>
          <p:cNvPr id="35" name="Text 33"/>
          <p:cNvSpPr/>
          <p:nvPr/>
        </p:nvSpPr>
        <p:spPr>
          <a:xfrm>
            <a:off x="9621026" y="3503863"/>
            <a:ext cx="1656610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Ranked results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2731" y="6238297"/>
            <a:ext cx="4268405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recordings · 344 speaker-turn chunks · FastAPI + Streamlit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812732"/>
            <a:ext cx="10883447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Architecture at a glance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860" y="1435908"/>
          <a:ext cx="10555324" cy="3289007"/>
        </p:xfrm>
        <a:graphic>
          <a:graphicData uri="http://schemas.openxmlformats.org/drawingml/2006/table">
            <a:tbl>
              <a:tblPr/>
              <a:tblGrid>
                <a:gridCol w="2533278"/>
                <a:gridCol w="3377704"/>
                <a:gridCol w="4644342"/>
              </a:tblGrid>
              <a:tr h="331109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BFB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Component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BFB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Technology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BFB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Why this choice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4448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Retrieval fusion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Reciprocal Rank Fusion, k=60 (Python)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Combines keyword + vector ranks without training a fusion model; easy to test and explain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48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Keyword search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Postgres tsvector, websearch_to_tsquery (AND)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Exact terms, phrases, numbers — fast and precise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</a:tr>
              <a:tr h="331109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Vector search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pgvector cosine, all-MiniLM-L6-v2 (384-d)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Catches paraphrases with no shared words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109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Reranking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cross-encoder/ms-marco-MiniLM-L-6-v2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+13pp Hit@1 over the fused top-50 candidates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</a:tr>
              <a:tr h="331109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Diarization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Resemblyzer embeddings + KMeans (k=2)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Per-recording speaker turns, no labeled data needed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109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faster-whisper (small)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98.4% word agreement vs. base, fixes domain terms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</a:tr>
              <a:tr h="54448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Serving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FastAPI + Streamlit, pooled Postgres connections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Simple, inspectable, production-adjacent for a demo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731" y="6238297"/>
            <a:ext cx="5599527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arm is independently testable — each choice was measured, not assumed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812732"/>
            <a:ext cx="10883447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Engineering behind the decisions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06" y="1427955"/>
            <a:ext cx="5200708" cy="1315305"/>
          </a:xfrm>
          <a:prstGeom prst="roundRect">
            <a:avLst>
              <a:gd name="adj" fmla="val 7483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413" y="1633462"/>
            <a:ext cx="4933384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Embedding model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21413" y="1897619"/>
            <a:ext cx="4933384" cy="665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Chose</a:t>
            </a: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all-MiniLM-L6-v2 after a head-to-head test (Hit@1 0.29 vs 0.21, MRR 0.441 vs 0.399) against multi-qa-MiniLM-L6-cos-v1, which lost on every metric.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75301" y="1427955"/>
            <a:ext cx="5200708" cy="1315305"/>
          </a:xfrm>
          <a:prstGeom prst="roundRect">
            <a:avLst>
              <a:gd name="adj" fmla="val 7483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0809" y="1633462"/>
            <a:ext cx="4933384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ASR model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80809" y="1897619"/>
            <a:ext cx="4933384" cy="665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Chose</a:t>
            </a: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faster-whisper “small” over “base”: 98.4% word agreement, but small alone got domain terms right (“on-call”, “lint”, “2.20”) that base missed.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5906" y="2901947"/>
            <a:ext cx="5200708" cy="1315305"/>
          </a:xfrm>
          <a:prstGeom prst="roundRect">
            <a:avLst>
              <a:gd name="adj" fmla="val 7483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1413" y="3107454"/>
            <a:ext cx="4933384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Datastore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1413" y="3371611"/>
            <a:ext cx="4933384" cy="665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Chose</a:t>
            </a: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Docker Postgres + pgvector over a managed cloud DB — standard, defensible, and keeps the system locally runnable as the spec requires.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5301" y="2901947"/>
            <a:ext cx="5200708" cy="1315305"/>
          </a:xfrm>
          <a:prstGeom prst="roundRect">
            <a:avLst>
              <a:gd name="adj" fmla="val 7483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0809" y="3107454"/>
            <a:ext cx="4933384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Fusion strategy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80809" y="3371611"/>
            <a:ext cx="4933384" cy="45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Chose</a:t>
            </a:r>
            <a:r>
              <a:rPr lang="en-US" sz="12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RRF in Python over SQL-side fusion or a learned re-ranker at query time — testable, explainable, no training data required.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731" y="6238297"/>
            <a:ext cx="4835227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decision log (13 decisions, alternatives considered): AGENTS.md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812732"/>
            <a:ext cx="10883447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Measured, not assumed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731" y="1424778"/>
            <a:ext cx="10883447" cy="274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 hand-labeled queries · 82 relevant chunks · keyword / paraphrase / speaker query types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2731" y="1876837"/>
            <a:ext cx="3420564" cy="1422170"/>
          </a:xfrm>
          <a:prstGeom prst="roundRect">
            <a:avLst>
              <a:gd name="adj" fmla="val 7144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1015848" y="2079954"/>
            <a:ext cx="3104758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Hit@5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848" y="2344111"/>
            <a:ext cx="3104758" cy="513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93.3%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15848" y="2882512"/>
            <a:ext cx="3104758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 from 86.7% (rerank off)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5632" y="1876837"/>
            <a:ext cx="3420651" cy="1422170"/>
          </a:xfrm>
          <a:prstGeom prst="roundRect">
            <a:avLst>
              <a:gd name="adj" fmla="val 7144"/>
            </a:avLst>
          </a:prstGeom>
          <a:solidFill>
            <a:srgbClr val="14213D"/>
          </a:solidFill>
          <a:ln/>
        </p:spPr>
      </p:sp>
      <p:sp>
        <p:nvSpPr>
          <p:cNvPr id="9" name="Text 7"/>
          <p:cNvSpPr/>
          <p:nvPr/>
        </p:nvSpPr>
        <p:spPr>
          <a:xfrm>
            <a:off x="4588750" y="2079954"/>
            <a:ext cx="3104848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MRR@10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88750" y="2344111"/>
            <a:ext cx="3104848" cy="513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0.827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88750" y="2882512"/>
            <a:ext cx="3104848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 from 0.724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8620" y="1876837"/>
            <a:ext cx="3420564" cy="1422170"/>
          </a:xfrm>
          <a:prstGeom prst="roundRect">
            <a:avLst>
              <a:gd name="adj" fmla="val 7144"/>
            </a:avLst>
          </a:prstGeom>
          <a:solidFill>
            <a:srgbClr val="14213D"/>
          </a:solidFill>
          <a:ln/>
        </p:spPr>
      </p:sp>
      <p:sp>
        <p:nvSpPr>
          <p:cNvPr id="13" name="Text 11"/>
          <p:cNvSpPr/>
          <p:nvPr/>
        </p:nvSpPr>
        <p:spPr>
          <a:xfrm>
            <a:off x="8161738" y="2079954"/>
            <a:ext cx="3104758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p50 latency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61738" y="2344111"/>
            <a:ext cx="3104758" cy="513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F59E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216ms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161738" y="2882512"/>
            <a:ext cx="3104758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single user, with rerank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860" y="3513254"/>
          <a:ext cx="10555324" cy="993328"/>
        </p:xfrm>
        <a:graphic>
          <a:graphicData uri="http://schemas.openxmlformats.org/drawingml/2006/table">
            <a:tbl>
              <a:tblPr/>
              <a:tblGrid>
                <a:gridCol w="2955491"/>
                <a:gridCol w="1899958"/>
                <a:gridCol w="1899958"/>
                <a:gridCol w="1899958"/>
                <a:gridCol w="1899958"/>
              </a:tblGrid>
              <a:tr h="331109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Config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Hit@1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Recall@10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nDCG@10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TNR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</a:tr>
              <a:tr h="331109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Rerank off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0.600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0.727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0.660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0.9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109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Run 6 — current defaults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0.733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0.741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0.695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812731" y="6238298"/>
            <a:ext cx="7104843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7 regression check: 0 quality-metric differences after robustness fixes, verified programmatically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812729"/>
            <a:ext cx="10883447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Knowing when there's no answer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731" y="1424778"/>
            <a:ext cx="10566453" cy="802557"/>
          </a:xfrm>
          <a:prstGeom prst="roundRect">
            <a:avLst>
              <a:gd name="adj" fmla="val 6330"/>
            </a:avLst>
          </a:prstGeom>
          <a:solidFill>
            <a:srgbClr val="1C2B4D"/>
          </a:solidFill>
          <a:ln/>
        </p:spPr>
      </p:sp>
      <p:sp>
        <p:nvSpPr>
          <p:cNvPr id="4" name="Shape 2"/>
          <p:cNvSpPr/>
          <p:nvPr/>
        </p:nvSpPr>
        <p:spPr>
          <a:xfrm>
            <a:off x="812731" y="1424778"/>
            <a:ext cx="10566453" cy="802557"/>
          </a:xfrm>
          <a:custGeom>
            <a:avLst/>
            <a:gdLst/>
            <a:ahLst/>
            <a:cxnLst/>
            <a:rect l="l" t="t" r="r" b="b"/>
            <a:pathLst>
              <a:path w="10566453" h="802557">
                <a:moveTo>
                  <a:pt x="50800" y="802557"/>
                </a:moveTo>
                <a:lnTo>
                  <a:pt x="50800" y="802557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arcTo hR="50800" wR="25400" stAng="16200000" swAng="-5400000"/>
                <a:lnTo>
                  <a:pt x="25400" y="751757"/>
                </a:lnTo>
                <a:arcTo hR="50800" wR="25400" stAng="10800000" swAng="-5400000"/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1038107" y="1577116"/>
            <a:ext cx="10442098" cy="52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i="1" dirty="0">
                <a:solidFill>
                  <a:srgbClr val="BFD8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judging criterion: does the system say “false” when nothing matches, and “true” when something genuinely does — not just return the best of a bad set.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9594" y="2537141"/>
            <a:ext cx="5022048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59E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BEFORE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9594" y="2801299"/>
            <a:ext cx="5022048" cy="756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760"/>
              </a:lnSpc>
              <a:buNone/>
            </a:pPr>
            <a:r>
              <a:rPr lang="en-US" sz="4800" b="1" dirty="0">
                <a:solidFill>
                  <a:srgbClr val="F59E0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39594" y="3583595"/>
            <a:ext cx="5022048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true-negative rate — a gibberish query always filled all 10 results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2489" y="2918073"/>
            <a:ext cx="357650" cy="52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30184" y="2430453"/>
            <a:ext cx="5022138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AFTER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30184" y="2694611"/>
            <a:ext cx="5022138" cy="756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760"/>
              </a:lnSpc>
              <a:buNone/>
            </a:pPr>
            <a:r>
              <a:rPr lang="en-US" sz="4800" b="1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30184" y="3476907"/>
            <a:ext cx="5022138" cy="45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true-negative rate on all 10 adversarial queries, with Hit@5 preserved at 93.3%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731" y="4106779"/>
            <a:ext cx="10883447" cy="1168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BFD8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Added a minimum cosine-similarity floor (0.3) before RRF fusion, so weak vector hits stop filling the result list</a:t>
            </a:r>
            <a:endParaRPr lang="en-US" sz="1200" dirty="0"/>
          </a:p>
          <a:p>
            <a:pPr algn="l" marL="182880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BFD8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 and fixed a regression: the floor hid correct answers to role-worded speaker queries (“what did the agent offer”) — scoped it to unscoped searches only</a:t>
            </a:r>
            <a:endParaRPr lang="en-US" sz="1200" dirty="0"/>
          </a:p>
          <a:p>
            <a:pPr algn="l" marL="182880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BFD8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Raised the floor to 0.45 for digit-only queries, closing the last false positive (an account number matching “1234 5678 9012”)</a:t>
            </a:r>
            <a:endParaRPr lang="en-US" sz="1200" dirty="0"/>
          </a:p>
          <a:p>
            <a:pPr algn="l" marL="182880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BFD8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Re-verified with a full regression run: 0 quality-metric differences after the robustness fixes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812732"/>
            <a:ext cx="10883447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Known limitations, by priority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860" y="1410520"/>
          <a:ext cx="10555324" cy="3620116"/>
        </p:xfrm>
        <a:graphic>
          <a:graphicData uri="http://schemas.openxmlformats.org/drawingml/2006/table">
            <a:tbl>
              <a:tblPr/>
              <a:tblGrid>
                <a:gridCol w="1477745"/>
                <a:gridCol w="4855449"/>
                <a:gridCol w="4222130"/>
              </a:tblGrid>
              <a:tr h="331109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BFB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Priority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BFB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BFB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31109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Relevance cutoff on gibberish / no-match queries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Fixed &amp; verified (1.0 TNR, all 10 negatives)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109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Exclude-term filter only worked on keyword arm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Fixed &amp; verified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</a:tr>
              <a:tr h="331109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Ingestion stops at first failed recording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Fixed (log-and-continue)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1109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Rerank latency under concurrent load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Mitigated: top-20 default cuts server p95 43%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</a:tr>
              <a:tr h="54448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Code-review findings: id conflicts, no-speech crashes, exclusion-only queries, dimension checks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Fixed &amp; regression-verified (0 metric diff)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48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Vocabulary-gap misses on paraphrases with no shared words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— cross-encoder reranker adopted, larger embedder deferred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</a:tr>
              <a:tr h="331109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Small eval set (30 queries) limits statistical confidence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Documented; growth deferred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487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auth/CORS, dev DB password, single ASR speaker labels (A/B not identities)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Documented as production-track (LIMITATIONS.md)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731" y="6238298"/>
            <a:ext cx="5977737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backlog with reasoning and evidence: docs/ISSUES.md &amp; docs/LIMITATIONS.md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31" y="2362284"/>
            <a:ext cx="10883447" cy="492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Built, measured, and honest about what's left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731" y="3032764"/>
            <a:ext cx="3420564" cy="1259745"/>
          </a:xfrm>
          <a:prstGeom prst="roundRect">
            <a:avLst>
              <a:gd name="adj" fmla="val 8065"/>
            </a:avLst>
          </a:prstGeom>
          <a:solidFill>
            <a:srgbClr val="1C2B4D"/>
          </a:solidFill>
          <a:ln/>
        </p:spPr>
      </p:sp>
      <p:sp>
        <p:nvSpPr>
          <p:cNvPr id="4" name="Text 2"/>
          <p:cNvSpPr/>
          <p:nvPr/>
        </p:nvSpPr>
        <p:spPr>
          <a:xfrm>
            <a:off x="990458" y="3210489"/>
            <a:ext cx="3157061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What's built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90458" y="3474647"/>
            <a:ext cx="3157061" cy="665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pipeline: ASR → diarization → chunking → embeddings → hybrid search → rerank → API → UI, all locally runnable via Docker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5632" y="3032764"/>
            <a:ext cx="3420651" cy="1259745"/>
          </a:xfrm>
          <a:prstGeom prst="roundRect">
            <a:avLst>
              <a:gd name="adj" fmla="val 8065"/>
            </a:avLst>
          </a:prstGeom>
          <a:solidFill>
            <a:srgbClr val="1C2B4D"/>
          </a:solidFill>
          <a:ln/>
        </p:spPr>
      </p:sp>
      <p:sp>
        <p:nvSpPr>
          <p:cNvPr id="7" name="Text 5"/>
          <p:cNvSpPr/>
          <p:nvPr/>
        </p:nvSpPr>
        <p:spPr>
          <a:xfrm>
            <a:off x="4563360" y="3210489"/>
            <a:ext cx="3157151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it's judged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63360" y="3474647"/>
            <a:ext cx="3157151" cy="665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decision A/B tested; 13 documented ADRs; a real eval harness measuring both relevance and calibration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58620" y="3032764"/>
            <a:ext cx="3420564" cy="1259745"/>
          </a:xfrm>
          <a:prstGeom prst="roundRect">
            <a:avLst>
              <a:gd name="adj" fmla="val 8065"/>
            </a:avLst>
          </a:prstGeom>
          <a:solidFill>
            <a:srgbClr val="1C2B4D"/>
          </a:solidFill>
          <a:ln/>
        </p:spPr>
      </p:sp>
      <p:sp>
        <p:nvSpPr>
          <p:cNvPr id="10" name="Text 8"/>
          <p:cNvSpPr/>
          <p:nvPr/>
        </p:nvSpPr>
        <p:spPr>
          <a:xfrm>
            <a:off x="8136348" y="3210489"/>
            <a:ext cx="3157061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What's next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36348" y="3474647"/>
            <a:ext cx="3157061" cy="665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D8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Larger eval set, LLM answer synthesis (RAG) with citations, production auth &amp; ANN indexing at scale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731" y="6238298"/>
            <a:ext cx="2071600" cy="23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8AA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Thank you · Amol Gupta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Audio-Transcript Search — G2 Hackathon</dc:title>
  <dc:subject>PptxGenJS Presentation</dc:subject>
  <dc:creator>PptxGenJS</dc:creator>
  <cp:lastModifiedBy>PptxGenJS</cp:lastModifiedBy>
  <cp:revision>1</cp:revision>
  <dcterms:created xsi:type="dcterms:W3CDTF">2026-09-26T11:51:37Z</dcterms:created>
  <dcterms:modified xsi:type="dcterms:W3CDTF">2026-09-26T11:51:37Z</dcterms:modified>
</cp:coreProperties>
</file>